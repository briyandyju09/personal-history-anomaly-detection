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having me. I'm Briyan Dyju, an independent researcher in Dubai, and I want to ask a simple question: how much of a person's own history does an anomaly detector need? [0:15] Transition: Let me start with a customer on their first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personalised detector compares each payment with your own past behaviour. That's powerful, because a 900-unit purchase can be ordinary for one person and extraordinary for another. But on day one, there is no past to compare with. [1:15] Transition: So when does the personal baseline start to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systems handle this with a cutoff. One patent family literally filters out 'unseasoned users'. But we could not find any published measurement of where that cutoff should be, so that is what I measured. [0:45] Transition: Here is how I measured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account I hold the last sixty transactions fixed as a test window, and train on the n transactions just before it. To label anomalies without circularity, I swap in a real transaction from a different account, so provenance defines the label, not any detector. [1:15] Transition: Here is what I ran this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real bank accounts from the Berka dataset, a controlled simulation where I set how variable people are, and a second, synthetic card dataset. Six standard unsupervised detectors run on each layer. [0:45] Transition: Now the headline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data-efficiency curve on real bank accounts. The shrinkage Mahalanobis detector reaches ninety percent of its best precision-recall AUC, 0.657, at just twenty-five personal transactions, and has gained almost everything by fifty. The two simple z-scores never learn at all. [1:30] Transition: But that single number depends on how you define sufficiency.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Rel-90 is the smallest n that reaches ninety percent of the best value; Rel-95 uses ninety-five. For Mahalanobis it is twenty-five either way, and it is identical across five independent cohort draws. But the stability criterion, spread across people, is never met by any detector that actually learns. [0:45] Transition: Now a question that matters in practice: should you personalise at all when history is thin?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green line is a model built only from four hundred other accounts. Below about ten transactions, that crowd model beats the person's own history. So personalisation is not a safe default in the sparse regime. [1:30] Transition: The orange line shows a fix.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shrinks the personal estimate toward the population estimate with a weight set only by n. At zero history it is exactly the crowd model, and as n grows it converges to the personal one. In my simulation it fails when the personal signal lives in the features themselves, so it is not a universal cure. [0:45] Transition: Now the part that surprised me most: the alert threshold.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detector needs an alert threshold. If you set it from the model's own training scores, at ten transactions it flags ninety-six percent of everything. With leave-one-out calibration, the same model flags one point two percent. That is an artefact of in-sample scoring, not of data scarcity. [1:30] Transition: Does any of this hold on a different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synthetic card dataset the curve has the same shape, but the threshold moves to two hundred and fifty. And isolation forest, the worst detector on Berka, is the best one at small n here. So which model wins under scarcity depends on the dataset. [1:15] Transition: What makes some people need more history than others?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simulation, where I control variability, regular people need about fifty transactions and highly variable people about five hundred. But in the real Berka accounts, none of the eight descriptors I tested predicts an account's requirement. The simulation shows the effect can exist, not that it does in real data. [1:00] Transition: One more practical finding about which history to keep.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Going from fifty to two hundred and fifty transactions changes almost nothing, while drawing the same fifty from a four-times-longer span costs a little. I tested the obvious drift explanation directly, and it does not explain which accounts lose. [0:45] Transition: Before I wrap up, what this study cannot tell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bank in the nineties, plus a synthetic dataset, and my injected anomalies are far more common than real fraud. A flagged transaction is a deviation, not evidence of fraud. My fairness audit found no district-level gap, but it cannot test age, tenure or immigration status. [0:45] Transition: So what should you take away?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a personal baseline ranks well from about twenty-five transactions; a shrinkage hybrid removes the cold-start penalty; how you calibrate the alert threshold changes the operating point; and recent history is enough. [0:45] Transition: I'm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paper is linked at the QR code and I'm happy to take questions. [0:15]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371600"/>
            <a:ext cx="10515600" cy="1828800"/>
          </a:xfrm>
          <a:prstGeom prst="rect">
            <a:avLst/>
          </a:prstGeom>
          <a:noFill/>
        </p:spPr>
        <p:txBody>
          <a:bodyPr wrap="square" anchor="ctr">
            <a:spAutoFit/>
          </a:bodyPr>
          <a:lstStyle/>
          <a:p>
            <a:pPr algn="ctr"/>
            <a:r>
              <a:rPr sz="5000" b="1">
                <a:solidFill>
                  <a:srgbClr val="1F4566"/>
                </a:solidFill>
                <a:latin typeface="Calibri"/>
              </a:rPr>
              <a:t>How Much Personal History Is Enough?</a:t>
            </a:r>
          </a:p>
        </p:txBody>
      </p:sp>
      <p:sp>
        <p:nvSpPr>
          <p:cNvPr id="3" name="TextBox 2"/>
          <p:cNvSpPr txBox="1"/>
          <p:nvPr/>
        </p:nvSpPr>
        <p:spPr>
          <a:xfrm>
            <a:off x="1097280" y="3291840"/>
            <a:ext cx="9966960" cy="914400"/>
          </a:xfrm>
          <a:prstGeom prst="rect">
            <a:avLst/>
          </a:prstGeom>
          <a:noFill/>
        </p:spPr>
        <p:txBody>
          <a:bodyPr wrap="square" anchor="t">
            <a:spAutoFit/>
          </a:bodyPr>
          <a:lstStyle/>
          <a:p>
            <a:pPr algn="ctr"/>
            <a:r>
              <a:rPr sz="2400" b="0">
                <a:solidFill>
                  <a:srgbClr val="2D5F8B"/>
                </a:solidFill>
                <a:latin typeface="Calibri"/>
              </a:rPr>
              <a:t>Measuring the data requirement for individualised financial behavioural anomaly detection</a:t>
            </a:r>
          </a:p>
        </p:txBody>
      </p:sp>
      <p:sp>
        <p:nvSpPr>
          <p:cNvPr id="4" name="Rectangle 3"/>
          <p:cNvSpPr/>
          <p:nvPr/>
        </p:nvSpPr>
        <p:spPr>
          <a:xfrm>
            <a:off x="4937760" y="4343400"/>
            <a:ext cx="228600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572000"/>
            <a:ext cx="9966960" cy="1463040"/>
          </a:xfrm>
          <a:prstGeom prst="rect">
            <a:avLst/>
          </a:prstGeom>
          <a:noFill/>
        </p:spPr>
        <p:txBody>
          <a:bodyPr wrap="square" anchor="t">
            <a:spAutoFit/>
          </a:bodyPr>
          <a:lstStyle/>
          <a:p>
            <a:pPr algn="ctr"/>
            <a:r>
              <a:rPr sz="2800" b="0">
                <a:solidFill>
                  <a:srgbClr val="1A1A1A"/>
                </a:solidFill>
                <a:latin typeface="Calibri"/>
              </a:rPr>
              <a:t>Briyan George Dyju</a:t>
            </a:r>
          </a:p>
          <a:p>
            <a:pPr algn="ctr"/>
            <a:r>
              <a:rPr sz="2000" b="0">
                <a:solidFill>
                  <a:srgbClr val="888888"/>
                </a:solidFill>
                <a:latin typeface="Calibri"/>
              </a:rPr>
              <a:t>Independent Researcher, Dubai, United Arab Emirates</a:t>
            </a:r>
          </a:p>
          <a:p>
            <a:pPr algn="ctr"/>
            <a:r>
              <a:rPr sz="1800" b="0">
                <a:solidFill>
                  <a:srgbClr val="888888"/>
                </a:solidFill>
                <a:latin typeface="Calibri"/>
              </a:rPr>
              <a:t>Independent research,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A new customer opens an account</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Personal detector: compare with your own past</a:t>
            </a:r>
          </a:p>
          <a:p>
            <a:pPr>
              <a:spcAft>
                <a:spcPts val="1650"/>
              </a:spcAft>
            </a:pPr>
            <a:r>
              <a:rPr sz="2100" b="0">
                <a:solidFill>
                  <a:srgbClr val="2D5F8B"/>
                </a:solidFill>
                <a:latin typeface="Calibri"/>
              </a:rPr>
              <a:t>■  </a:t>
            </a:r>
            <a:r>
              <a:rPr sz="3000" b="0">
                <a:solidFill>
                  <a:srgbClr val="1A1A1A"/>
                </a:solidFill>
                <a:latin typeface="Calibri"/>
              </a:rPr>
              <a:t>Day one: your past is empty</a:t>
            </a:r>
          </a:p>
          <a:p>
            <a:pPr>
              <a:spcAft>
                <a:spcPts val="1650"/>
              </a:spcAft>
            </a:pPr>
            <a:r>
              <a:rPr sz="2100" b="0">
                <a:solidFill>
                  <a:srgbClr val="2D5F8B"/>
                </a:solidFill>
                <a:latin typeface="Calibri"/>
              </a:rPr>
              <a:t>■  </a:t>
            </a:r>
            <a:r>
              <a:rPr sz="3000" b="0">
                <a:solidFill>
                  <a:srgbClr val="1A1A1A"/>
                </a:solidFill>
                <a:latin typeface="Calibri"/>
              </a:rPr>
              <a:t>900 units: normal for one, wild for another</a:t>
            </a:r>
          </a:p>
          <a:p>
            <a:pPr>
              <a:spcAft>
                <a:spcPts val="1650"/>
              </a:spcAft>
            </a:pPr>
            <a:r>
              <a:rPr sz="2100" b="0">
                <a:solidFill>
                  <a:srgbClr val="2D5F8B"/>
                </a:solidFill>
                <a:latin typeface="Calibri"/>
              </a:rPr>
              <a:t>■  </a:t>
            </a:r>
            <a:r>
              <a:rPr sz="3000" b="0">
                <a:solidFill>
                  <a:srgbClr val="1A1A1A"/>
                </a:solidFill>
                <a:latin typeface="Calibri"/>
              </a:rPr>
              <a:t>One population rule serves people badly</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2/16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Where does the baseline start to work?</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Deployed systems filter “unseasoned users”</a:t>
            </a:r>
          </a:p>
          <a:p>
            <a:pPr>
              <a:spcAft>
                <a:spcPts val="1650"/>
              </a:spcAft>
            </a:pPr>
            <a:r>
              <a:rPr sz="2100" b="0">
                <a:solidFill>
                  <a:srgbClr val="2D5F8B"/>
                </a:solidFill>
                <a:latin typeface="Calibri"/>
              </a:rPr>
              <a:t>■  </a:t>
            </a:r>
            <a:r>
              <a:rPr sz="3000" b="0">
                <a:solidFill>
                  <a:srgbClr val="1A1A1A"/>
                </a:solidFill>
                <a:latin typeface="Calibri"/>
              </a:rPr>
              <a:t>The cutoff is assumed, not measured</a:t>
            </a:r>
          </a:p>
          <a:p>
            <a:pPr>
              <a:spcAft>
                <a:spcPts val="1650"/>
              </a:spcAft>
            </a:pPr>
            <a:r>
              <a:rPr sz="2100" b="0">
                <a:solidFill>
                  <a:srgbClr val="2D5F8B"/>
                </a:solidFill>
                <a:latin typeface="Calibri"/>
              </a:rPr>
              <a:t>■  </a:t>
            </a:r>
            <a:r>
              <a:rPr sz="3000" b="0">
                <a:solidFill>
                  <a:srgbClr val="1A1A1A"/>
                </a:solidFill>
                <a:latin typeface="Calibri"/>
              </a:rPr>
              <a:t>We found no published measurement</a:t>
            </a:r>
          </a:p>
        </p:txBody>
      </p:sp>
      <p:sp>
        <p:nvSpPr>
          <p:cNvPr id="5" name="TextBox 4"/>
          <p:cNvSpPr txBox="1"/>
          <p:nvPr/>
        </p:nvSpPr>
        <p:spPr>
          <a:xfrm>
            <a:off x="731520" y="4846320"/>
            <a:ext cx="10698480" cy="914400"/>
          </a:xfrm>
          <a:prstGeom prst="rect">
            <a:avLst/>
          </a:prstGeom>
          <a:noFill/>
        </p:spPr>
        <p:txBody>
          <a:bodyPr wrap="square" anchor="ctr">
            <a:spAutoFit/>
          </a:bodyPr>
          <a:lstStyle/>
          <a:p>
            <a:pPr algn="ctr"/>
            <a:r>
              <a:rPr sz="3600" b="1">
                <a:solidFill>
                  <a:srgbClr val="2D5F8B"/>
                </a:solidFill>
                <a:latin typeface="Calibri"/>
              </a:rPr>
              <a:t>How many transactions are enough?</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3/16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Measure it with one fixed test window</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Fixed window: the last 60 transactions</a:t>
            </a:r>
          </a:p>
          <a:p>
            <a:pPr>
              <a:spcAft>
                <a:spcPts val="1650"/>
              </a:spcAft>
            </a:pPr>
            <a:r>
              <a:rPr sz="2100" b="0">
                <a:solidFill>
                  <a:srgbClr val="2D5F8B"/>
                </a:solidFill>
                <a:latin typeface="Calibri"/>
              </a:rPr>
              <a:t>■  </a:t>
            </a:r>
            <a:r>
              <a:rPr sz="3000" b="0">
                <a:solidFill>
                  <a:srgbClr val="1A1A1A"/>
                </a:solidFill>
                <a:latin typeface="Calibri"/>
              </a:rPr>
              <a:t>Train on the n just before it</a:t>
            </a:r>
          </a:p>
          <a:p>
            <a:pPr>
              <a:spcAft>
                <a:spcPts val="1650"/>
              </a:spcAft>
            </a:pPr>
            <a:r>
              <a:rPr sz="2100" b="0">
                <a:solidFill>
                  <a:srgbClr val="2D5F8B"/>
                </a:solidFill>
                <a:latin typeface="Calibri"/>
              </a:rPr>
              <a:t>■  </a:t>
            </a:r>
            <a:r>
              <a:rPr sz="3000" b="0">
                <a:solidFill>
                  <a:srgbClr val="1A1A1A"/>
                </a:solidFill>
                <a:latin typeface="Calibri"/>
              </a:rPr>
              <a:t>n from 1 to 250, always paired</a:t>
            </a:r>
          </a:p>
          <a:p>
            <a:pPr>
              <a:spcAft>
                <a:spcPts val="1650"/>
              </a:spcAft>
            </a:pPr>
            <a:r>
              <a:rPr sz="2100" b="0">
                <a:solidFill>
                  <a:srgbClr val="2D5F8B"/>
                </a:solidFill>
                <a:latin typeface="Calibri"/>
              </a:rPr>
              <a:t>■  </a:t>
            </a:r>
            <a:r>
              <a:rPr sz="3000" b="0">
                <a:solidFill>
                  <a:srgbClr val="1A1A1A"/>
                </a:solidFill>
                <a:latin typeface="Calibri"/>
              </a:rPr>
              <a:t>Anomaly: a stranger's real transaction swapped in</a:t>
            </a:r>
          </a:p>
          <a:p>
            <a:pPr>
              <a:spcAft>
                <a:spcPts val="1650"/>
              </a:spcAft>
            </a:pPr>
            <a:r>
              <a:rPr sz="2100" b="0">
                <a:solidFill>
                  <a:srgbClr val="2D5F8B"/>
                </a:solidFill>
                <a:latin typeface="Calibri"/>
              </a:rPr>
              <a:t>■  </a:t>
            </a:r>
            <a:r>
              <a:rPr sz="3000" b="0">
                <a:solidFill>
                  <a:srgbClr val="1A1A1A"/>
                </a:solidFill>
                <a:latin typeface="Calibri"/>
              </a:rPr>
              <a:t>No detector's score defines the labels</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4/16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Three data layers, six detectors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Berka: 300 real bank accounts</a:t>
            </a:r>
          </a:p>
          <a:p>
            <a:pPr>
              <a:spcAft>
                <a:spcPts val="1650"/>
              </a:spcAft>
            </a:pPr>
            <a:r>
              <a:rPr sz="2100" b="0">
                <a:solidFill>
                  <a:srgbClr val="2D5F8B"/>
                </a:solidFill>
                <a:latin typeface="Calibri"/>
              </a:rPr>
              <a:t>■  </a:t>
            </a:r>
            <a:r>
              <a:rPr sz="3000" b="0">
                <a:solidFill>
                  <a:srgbClr val="1A1A1A"/>
                </a:solidFill>
                <a:latin typeface="Calibri"/>
              </a:rPr>
              <a:t>Simulation: 240 people, variability set</a:t>
            </a:r>
          </a:p>
          <a:p>
            <a:pPr>
              <a:spcAft>
                <a:spcPts val="1650"/>
              </a:spcAft>
            </a:pPr>
            <a:r>
              <a:rPr sz="2100" b="0">
                <a:solidFill>
                  <a:srgbClr val="2D5F8B"/>
                </a:solidFill>
                <a:latin typeface="Calibri"/>
              </a:rPr>
              <a:t>■  </a:t>
            </a:r>
            <a:r>
              <a:rPr sz="3000" b="0">
                <a:solidFill>
                  <a:srgbClr val="1A1A1A"/>
                </a:solidFill>
                <a:latin typeface="Calibri"/>
              </a:rPr>
              <a:t>TabFormer: 300 entities, synthetic</a:t>
            </a:r>
          </a:p>
          <a:p>
            <a:pPr>
              <a:spcAft>
                <a:spcPts val="1650"/>
              </a:spcAft>
            </a:pPr>
            <a:r>
              <a:rPr sz="2100" b="0">
                <a:solidFill>
                  <a:srgbClr val="2D5F8B"/>
                </a:solidFill>
                <a:latin typeface="Calibri"/>
              </a:rPr>
              <a:t>■  </a:t>
            </a:r>
            <a:r>
              <a:rPr sz="3000" b="0">
                <a:solidFill>
                  <a:srgbClr val="1A1A1A"/>
                </a:solidFill>
                <a:latin typeface="Calibri"/>
              </a:rPr>
              <a:t>Mahalanobis, k-NN, forest, autoencoder, z-scores</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5/16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25 transactions reach 90% of best</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berka_curves.png"/>
          <p:cNvPicPr>
            <a:picLocks noChangeAspect="1"/>
          </p:cNvPicPr>
          <p:nvPr/>
        </p:nvPicPr>
        <p:blipFill>
          <a:blip r:embed="rId2"/>
          <a:stretch>
            <a:fillRect/>
          </a:stretch>
        </p:blipFill>
        <p:spPr>
          <a:xfrm>
            <a:off x="548640" y="1600200"/>
            <a:ext cx="6580822" cy="4480560"/>
          </a:xfrm>
          <a:prstGeom prst="rect">
            <a:avLst/>
          </a:prstGeom>
        </p:spPr>
      </p:pic>
      <p:sp>
        <p:nvSpPr>
          <p:cNvPr id="5" name="TextBox 4"/>
          <p:cNvSpPr txBox="1"/>
          <p:nvPr/>
        </p:nvSpPr>
        <p:spPr>
          <a:xfrm>
            <a:off x="8321040" y="2011680"/>
            <a:ext cx="3474720" cy="3840480"/>
          </a:xfrm>
          <a:prstGeom prst="rect">
            <a:avLst/>
          </a:prstGeom>
          <a:noFill/>
        </p:spPr>
        <p:txBody>
          <a:bodyPr wrap="square" anchor="t">
            <a:spAutoFit/>
          </a:bodyPr>
          <a:lstStyle/>
          <a:p>
            <a:pPr>
              <a:spcAft>
                <a:spcPts val="1320"/>
              </a:spcAft>
            </a:pPr>
            <a:r>
              <a:rPr sz="1679" b="0">
                <a:solidFill>
                  <a:srgbClr val="2D5F8B"/>
                </a:solidFill>
                <a:latin typeface="Calibri"/>
              </a:rPr>
              <a:t>■  </a:t>
            </a:r>
            <a:r>
              <a:rPr sz="2400" b="0">
                <a:solidFill>
                  <a:srgbClr val="1A1A1A"/>
                </a:solidFill>
                <a:latin typeface="Calibri"/>
              </a:rPr>
              <a:t>Mahalanobis PR-AUC </a:t>
            </a:r>
            <a:r>
              <a:rPr sz="2400" b="1">
                <a:solidFill>
                  <a:srgbClr val="1A1A1A"/>
                </a:solidFill>
                <a:latin typeface="Calibri"/>
              </a:rPr>
              <a:t>0.657</a:t>
            </a:r>
          </a:p>
          <a:p>
            <a:pPr>
              <a:spcAft>
                <a:spcPts val="1320"/>
              </a:spcAft>
            </a:pPr>
            <a:r>
              <a:rPr sz="1679" b="0">
                <a:solidFill>
                  <a:srgbClr val="2D5F8B"/>
                </a:solidFill>
                <a:latin typeface="Calibri"/>
              </a:rPr>
              <a:t>■  </a:t>
            </a:r>
            <a:r>
              <a:rPr sz="2400" b="0">
                <a:solidFill>
                  <a:srgbClr val="1A1A1A"/>
                </a:solidFill>
                <a:latin typeface="Calibri"/>
              </a:rPr>
              <a:t>98% of the gain by n = 50</a:t>
            </a:r>
          </a:p>
          <a:p>
            <a:pPr>
              <a:spcAft>
                <a:spcPts val="1320"/>
              </a:spcAft>
            </a:pPr>
            <a:r>
              <a:rPr sz="1679" b="0">
                <a:solidFill>
                  <a:srgbClr val="2D5F8B"/>
                </a:solidFill>
                <a:latin typeface="Calibri"/>
              </a:rPr>
              <a:t>■  </a:t>
            </a:r>
            <a:r>
              <a:rPr sz="2400" b="0">
                <a:solidFill>
                  <a:srgbClr val="1A1A1A"/>
                </a:solidFill>
                <a:latin typeface="Calibri"/>
              </a:rPr>
              <a:t>Both z-scores never learn</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6/16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The threshold depends on the definition</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828800"/>
          <a:ext cx="5669280" cy="2514600"/>
        </p:xfrm>
        <a:graphic>
          <a:graphicData uri="http://schemas.openxmlformats.org/drawingml/2006/table">
            <a:tbl>
              <a:tblPr firstRow="1" bandRow="1">
                <a:tableStyleId>{5C22544A-7EE6-4342-B048-85BDC9FD1C3A}</a:tableStyleId>
              </a:tblPr>
              <a:tblGrid>
                <a:gridCol w="1889760"/>
                <a:gridCol w="1889760"/>
                <a:gridCol w="1889760"/>
              </a:tblGrid>
              <a:tr h="502920">
                <a:tc>
                  <a:txBody>
                    <a:bodyPr/>
                    <a:lstStyle/>
                    <a:p>
                      <a:pPr algn="l"/>
                      <a:r>
                        <a:rPr sz="2400" b="1">
                          <a:solidFill>
                            <a:srgbClr val="FFFFFF"/>
                          </a:solidFill>
                          <a:latin typeface="Calibri"/>
                        </a:rPr>
                        <a:t>Detector</a:t>
                      </a:r>
                    </a:p>
                  </a:txBody>
                  <a:tcPr>
                    <a:solidFill>
                      <a:srgbClr val="2D5F8B"/>
                    </a:solidFill>
                  </a:tcPr>
                </a:tc>
                <a:tc>
                  <a:txBody>
                    <a:bodyPr/>
                    <a:lstStyle/>
                    <a:p>
                      <a:pPr algn="ctr"/>
                      <a:r>
                        <a:rPr sz="2400" b="1">
                          <a:solidFill>
                            <a:srgbClr val="FFFFFF"/>
                          </a:solidFill>
                          <a:latin typeface="Calibri"/>
                        </a:rPr>
                        <a:t>Rel-90</a:t>
                      </a:r>
                    </a:p>
                  </a:txBody>
                  <a:tcPr>
                    <a:solidFill>
                      <a:srgbClr val="2D5F8B"/>
                    </a:solidFill>
                  </a:tcPr>
                </a:tc>
                <a:tc>
                  <a:txBody>
                    <a:bodyPr/>
                    <a:lstStyle/>
                    <a:p>
                      <a:pPr algn="ctr"/>
                      <a:r>
                        <a:rPr sz="2400" b="1">
                          <a:solidFill>
                            <a:srgbClr val="FFFFFF"/>
                          </a:solidFill>
                          <a:latin typeface="Calibri"/>
                        </a:rPr>
                        <a:t>Rel-95</a:t>
                      </a:r>
                    </a:p>
                  </a:txBody>
                  <a:tcPr>
                    <a:solidFill>
                      <a:srgbClr val="2D5F8B"/>
                    </a:solidFill>
                  </a:tcPr>
                </a:tc>
              </a:tr>
              <a:tr h="502920">
                <a:tc>
                  <a:txBody>
                    <a:bodyPr/>
                    <a:lstStyle/>
                    <a:p>
                      <a:pPr algn="l"/>
                      <a:r>
                        <a:rPr sz="2400" b="0">
                          <a:solidFill>
                            <a:srgbClr val="1A1A1A"/>
                          </a:solidFill>
                          <a:latin typeface="Calibri"/>
                        </a:rPr>
                        <a:t>Mahalanobis</a:t>
                      </a:r>
                    </a:p>
                  </a:txBody>
                  <a:tcPr>
                    <a:solidFill>
                      <a:srgbClr val="E8F1F8"/>
                    </a:solidFill>
                  </a:tcPr>
                </a:tc>
                <a:tc>
                  <a:txBody>
                    <a:bodyPr/>
                    <a:lstStyle/>
                    <a:p>
                      <a:pPr algn="ctr"/>
                      <a:r>
                        <a:rPr sz="2400" b="0">
                          <a:solidFill>
                            <a:srgbClr val="1A1A1A"/>
                          </a:solidFill>
                          <a:latin typeface="Calibri"/>
                        </a:rPr>
                        <a:t>25</a:t>
                      </a:r>
                    </a:p>
                  </a:txBody>
                  <a:tcPr>
                    <a:solidFill>
                      <a:srgbClr val="E8F1F8"/>
                    </a:solidFill>
                  </a:tcPr>
                </a:tc>
                <a:tc>
                  <a:txBody>
                    <a:bodyPr/>
                    <a:lstStyle/>
                    <a:p>
                      <a:pPr algn="ctr"/>
                      <a:r>
                        <a:rPr sz="2400" b="0">
                          <a:solidFill>
                            <a:srgbClr val="1A1A1A"/>
                          </a:solidFill>
                          <a:latin typeface="Calibri"/>
                        </a:rPr>
                        <a:t>25</a:t>
                      </a:r>
                    </a:p>
                  </a:txBody>
                  <a:tcPr>
                    <a:solidFill>
                      <a:srgbClr val="E8F1F8"/>
                    </a:solidFill>
                  </a:tcPr>
                </a:tc>
              </a:tr>
              <a:tr h="502920">
                <a:tc>
                  <a:txBody>
                    <a:bodyPr/>
                    <a:lstStyle/>
                    <a:p>
                      <a:pPr algn="l"/>
                      <a:r>
                        <a:rPr sz="2400" b="0">
                          <a:solidFill>
                            <a:srgbClr val="1A1A1A"/>
                          </a:solidFill>
                          <a:latin typeface="Calibri"/>
                        </a:rPr>
                        <a:t>Autoencoder</a:t>
                      </a:r>
                    </a:p>
                  </a:txBody>
                  <a:tcPr>
                    <a:solidFill>
                      <a:srgbClr val="FFFFFF"/>
                    </a:solidFill>
                  </a:tcPr>
                </a:tc>
                <a:tc>
                  <a:txBody>
                    <a:bodyPr/>
                    <a:lstStyle/>
                    <a:p>
                      <a:pPr algn="ctr"/>
                      <a:r>
                        <a:rPr sz="2400" b="0">
                          <a:solidFill>
                            <a:srgbClr val="1A1A1A"/>
                          </a:solidFill>
                          <a:latin typeface="Calibri"/>
                        </a:rPr>
                        <a:t>25</a:t>
                      </a:r>
                    </a:p>
                  </a:txBody>
                  <a:tcPr>
                    <a:solidFill>
                      <a:srgbClr val="FFFFFF"/>
                    </a:solidFill>
                  </a:tcPr>
                </a:tc>
                <a:tc>
                  <a:txBody>
                    <a:bodyPr/>
                    <a:lstStyle/>
                    <a:p>
                      <a:pPr algn="ctr"/>
                      <a:r>
                        <a:rPr sz="2400" b="0">
                          <a:solidFill>
                            <a:srgbClr val="1A1A1A"/>
                          </a:solidFill>
                          <a:latin typeface="Calibri"/>
                        </a:rPr>
                        <a:t>25</a:t>
                      </a:r>
                    </a:p>
                  </a:txBody>
                  <a:tcPr>
                    <a:solidFill>
                      <a:srgbClr val="FFFFFF"/>
                    </a:solidFill>
                  </a:tcPr>
                </a:tc>
              </a:tr>
              <a:tr h="502920">
                <a:tc>
                  <a:txBody>
                    <a:bodyPr/>
                    <a:lstStyle/>
                    <a:p>
                      <a:pPr algn="l"/>
                      <a:r>
                        <a:rPr sz="2400" b="0">
                          <a:solidFill>
                            <a:srgbClr val="1A1A1A"/>
                          </a:solidFill>
                          <a:latin typeface="Calibri"/>
                        </a:rPr>
                        <a:t>k-NN</a:t>
                      </a:r>
                    </a:p>
                  </a:txBody>
                  <a:tcPr>
                    <a:solidFill>
                      <a:srgbClr val="E8F1F8"/>
                    </a:solidFill>
                  </a:tcPr>
                </a:tc>
                <a:tc>
                  <a:txBody>
                    <a:bodyPr/>
                    <a:lstStyle/>
                    <a:p>
                      <a:pPr algn="ctr"/>
                      <a:r>
                        <a:rPr sz="2400" b="0">
                          <a:solidFill>
                            <a:srgbClr val="1A1A1A"/>
                          </a:solidFill>
                          <a:latin typeface="Calibri"/>
                        </a:rPr>
                        <a:t>100</a:t>
                      </a:r>
                    </a:p>
                  </a:txBody>
                  <a:tcPr>
                    <a:solidFill>
                      <a:srgbClr val="E8F1F8"/>
                    </a:solidFill>
                  </a:tcPr>
                </a:tc>
                <a:tc>
                  <a:txBody>
                    <a:bodyPr/>
                    <a:lstStyle/>
                    <a:p>
                      <a:pPr algn="ctr"/>
                      <a:r>
                        <a:rPr sz="2400" b="0">
                          <a:solidFill>
                            <a:srgbClr val="1A1A1A"/>
                          </a:solidFill>
                          <a:latin typeface="Calibri"/>
                        </a:rPr>
                        <a:t>250</a:t>
                      </a:r>
                    </a:p>
                  </a:txBody>
                  <a:tcPr>
                    <a:solidFill>
                      <a:srgbClr val="E8F1F8"/>
                    </a:solidFill>
                  </a:tcPr>
                </a:tc>
              </a:tr>
              <a:tr h="502920">
                <a:tc>
                  <a:txBody>
                    <a:bodyPr/>
                    <a:lstStyle/>
                    <a:p>
                      <a:pPr algn="l"/>
                      <a:r>
                        <a:rPr sz="2400" b="0">
                          <a:solidFill>
                            <a:srgbClr val="1A1A1A"/>
                          </a:solidFill>
                          <a:latin typeface="Calibri"/>
                        </a:rPr>
                        <a:t>Isolation forest</a:t>
                      </a:r>
                    </a:p>
                  </a:txBody>
                  <a:tcPr>
                    <a:solidFill>
                      <a:srgbClr val="FFFFFF"/>
                    </a:solidFill>
                  </a:tcPr>
                </a:tc>
                <a:tc>
                  <a:txBody>
                    <a:bodyPr/>
                    <a:lstStyle/>
                    <a:p>
                      <a:pPr algn="ctr"/>
                      <a:r>
                        <a:rPr sz="2400" b="0">
                          <a:solidFill>
                            <a:srgbClr val="1A1A1A"/>
                          </a:solidFill>
                          <a:latin typeface="Calibri"/>
                        </a:rPr>
                        <a:t>250</a:t>
                      </a:r>
                    </a:p>
                  </a:txBody>
                  <a:tcPr>
                    <a:solidFill>
                      <a:srgbClr val="FFFFFF"/>
                    </a:solidFill>
                  </a:tcPr>
                </a:tc>
                <a:tc>
                  <a:txBody>
                    <a:bodyPr/>
                    <a:lstStyle/>
                    <a:p>
                      <a:pPr algn="ctr"/>
                      <a:r>
                        <a:rPr sz="2400" b="0">
                          <a:solidFill>
                            <a:srgbClr val="1A1A1A"/>
                          </a:solidFill>
                          <a:latin typeface="Calibri"/>
                        </a:rPr>
                        <a:t>250</a:t>
                      </a:r>
                    </a:p>
                  </a:txBody>
                  <a:tcPr>
                    <a:solidFill>
                      <a:srgbClr val="FFFFFF"/>
                    </a:solidFill>
                  </a:tcPr>
                </a:tc>
              </a:tr>
            </a:tbl>
          </a:graphicData>
        </a:graphic>
      </p:graphicFrame>
      <p:sp>
        <p:nvSpPr>
          <p:cNvPr id="5" name="TextBox 4"/>
          <p:cNvSpPr txBox="1"/>
          <p:nvPr/>
        </p:nvSpPr>
        <p:spPr>
          <a:xfrm>
            <a:off x="6766560" y="1828800"/>
            <a:ext cx="4937760" cy="3200400"/>
          </a:xfrm>
          <a:prstGeom prst="rect">
            <a:avLst/>
          </a:prstGeom>
          <a:noFill/>
        </p:spPr>
        <p:txBody>
          <a:bodyPr wrap="square" anchor="t">
            <a:spAutoFit/>
          </a:bodyPr>
          <a:lstStyle/>
          <a:p>
            <a:pPr>
              <a:spcAft>
                <a:spcPts val="1430"/>
              </a:spcAft>
            </a:pPr>
            <a:r>
              <a:rPr sz="1820" b="0">
                <a:solidFill>
                  <a:srgbClr val="2D5F8B"/>
                </a:solidFill>
                <a:latin typeface="Calibri"/>
              </a:rPr>
              <a:t>■  </a:t>
            </a:r>
            <a:r>
              <a:rPr sz="2600" b="0">
                <a:solidFill>
                  <a:srgbClr val="1A1A1A"/>
                </a:solidFill>
                <a:latin typeface="Calibri"/>
              </a:rPr>
              <a:t>Same 25 at all </a:t>
            </a:r>
            <a:r>
              <a:rPr sz="2600" b="1">
                <a:solidFill>
                  <a:srgbClr val="1A1A1A"/>
                </a:solidFill>
                <a:latin typeface="Calibri"/>
              </a:rPr>
              <a:t>5</a:t>
            </a:r>
            <a:r>
              <a:rPr sz="2600" b="0">
                <a:solidFill>
                  <a:srgbClr val="1A1A1A"/>
                </a:solidFill>
                <a:latin typeface="Calibri"/>
              </a:rPr>
              <a:t> cohort seeds</a:t>
            </a:r>
          </a:p>
          <a:p>
            <a:pPr>
              <a:spcAft>
                <a:spcPts val="1430"/>
              </a:spcAft>
            </a:pPr>
            <a:r>
              <a:rPr sz="1820" b="0">
                <a:solidFill>
                  <a:srgbClr val="2D5F8B"/>
                </a:solidFill>
                <a:latin typeface="Calibri"/>
              </a:rPr>
              <a:t>■  </a:t>
            </a:r>
            <a:r>
              <a:rPr sz="2600" b="0">
                <a:solidFill>
                  <a:srgbClr val="1A1A1A"/>
                </a:solidFill>
                <a:latin typeface="Calibri"/>
              </a:rPr>
              <a:t>Stability: never met by a learner</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7/16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Below n = 10, trust the crowd</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arms.png"/>
          <p:cNvPicPr>
            <a:picLocks noChangeAspect="1"/>
          </p:cNvPicPr>
          <p:nvPr/>
        </p:nvPicPr>
        <p:blipFill>
          <a:blip r:embed="rId2"/>
          <a:stretch>
            <a:fillRect/>
          </a:stretch>
        </p:blipFill>
        <p:spPr>
          <a:xfrm>
            <a:off x="548640" y="1600200"/>
            <a:ext cx="7019544" cy="4480560"/>
          </a:xfrm>
          <a:prstGeom prst="rect">
            <a:avLst/>
          </a:prstGeom>
        </p:spPr>
      </p:pic>
      <p:sp>
        <p:nvSpPr>
          <p:cNvPr id="5" name="TextBox 4"/>
          <p:cNvSpPr txBox="1"/>
          <p:nvPr/>
        </p:nvSpPr>
        <p:spPr>
          <a:xfrm>
            <a:off x="8321040" y="2011680"/>
            <a:ext cx="3474720" cy="3840480"/>
          </a:xfrm>
          <a:prstGeom prst="rect">
            <a:avLst/>
          </a:prstGeom>
          <a:noFill/>
        </p:spPr>
        <p:txBody>
          <a:bodyPr wrap="square" anchor="t">
            <a:spAutoFit/>
          </a:bodyPr>
          <a:lstStyle/>
          <a:p>
            <a:pPr>
              <a:spcAft>
                <a:spcPts val="1320"/>
              </a:spcAft>
            </a:pPr>
            <a:r>
              <a:rPr sz="1679" b="0">
                <a:solidFill>
                  <a:srgbClr val="2D5F8B"/>
                </a:solidFill>
                <a:latin typeface="Calibri"/>
              </a:rPr>
              <a:t>■  </a:t>
            </a:r>
            <a:r>
              <a:rPr sz="2400" b="0">
                <a:solidFill>
                  <a:srgbClr val="1A1A1A"/>
                </a:solidFill>
                <a:latin typeface="Calibri"/>
              </a:rPr>
              <a:t>Population model: 400 other accounts</a:t>
            </a:r>
          </a:p>
          <a:p>
            <a:pPr>
              <a:spcAft>
                <a:spcPts val="1320"/>
              </a:spcAft>
            </a:pPr>
            <a:r>
              <a:rPr sz="1679" b="0">
                <a:solidFill>
                  <a:srgbClr val="2D5F8B"/>
                </a:solidFill>
                <a:latin typeface="Calibri"/>
              </a:rPr>
              <a:t>■  </a:t>
            </a:r>
            <a:r>
              <a:rPr sz="2400" b="0">
                <a:solidFill>
                  <a:srgbClr val="1A1A1A"/>
                </a:solidFill>
                <a:latin typeface="Calibri"/>
              </a:rPr>
              <a:t>Personal worse until n = 10</a:t>
            </a:r>
          </a:p>
          <a:p>
            <a:pPr>
              <a:spcAft>
                <a:spcPts val="1320"/>
              </a:spcAft>
            </a:pPr>
            <a:r>
              <a:rPr sz="1679" b="0">
                <a:solidFill>
                  <a:srgbClr val="2D5F8B"/>
                </a:solidFill>
                <a:latin typeface="Calibri"/>
              </a:rPr>
              <a:t>■  </a:t>
            </a:r>
            <a:r>
              <a:rPr sz="2400" b="0">
                <a:solidFill>
                  <a:srgbClr val="1A1A1A"/>
                </a:solidFill>
                <a:latin typeface="Calibri"/>
              </a:rPr>
              <a:t>k-NN: worse until n = 50</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8/16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Shrink toward the crowd</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1188720"/>
          </a:xfrm>
          <a:prstGeom prst="rect">
            <a:avLst/>
          </a:prstGeom>
          <a:noFill/>
        </p:spPr>
        <p:txBody>
          <a:bodyPr wrap="square" anchor="ctr">
            <a:spAutoFit/>
          </a:bodyPr>
          <a:lstStyle/>
          <a:p>
            <a:pPr algn="ctr"/>
            <a:r>
              <a:rPr sz="4000" b="1">
                <a:solidFill>
                  <a:srgbClr val="1F4566"/>
                </a:solidFill>
                <a:latin typeface="Calibri"/>
              </a:rPr>
              <a:t>μ_h = (n · μ_p + κ · μ_g) / (n + κ)</a:t>
            </a:r>
          </a:p>
        </p:txBody>
      </p:sp>
      <p:sp>
        <p:nvSpPr>
          <p:cNvPr id="5" name="TextBox 4"/>
          <p:cNvSpPr txBox="1"/>
          <p:nvPr/>
        </p:nvSpPr>
        <p:spPr>
          <a:xfrm>
            <a:off x="731520" y="3108960"/>
            <a:ext cx="10698480" cy="2926080"/>
          </a:xfrm>
          <a:prstGeom prst="rect">
            <a:avLst/>
          </a:prstGeom>
          <a:noFill/>
        </p:spPr>
        <p:txBody>
          <a:bodyPr wrap="square" anchor="t">
            <a:spAutoFit/>
          </a:bodyPr>
          <a:lstStyle/>
          <a:p>
            <a:pPr>
              <a:spcAft>
                <a:spcPts val="1540"/>
              </a:spcAft>
            </a:pPr>
            <a:r>
              <a:rPr sz="1959" b="0">
                <a:solidFill>
                  <a:srgbClr val="2D5F8B"/>
                </a:solidFill>
                <a:latin typeface="Calibri"/>
              </a:rPr>
              <a:t>■  </a:t>
            </a:r>
            <a:r>
              <a:rPr sz="2800" b="0">
                <a:solidFill>
                  <a:srgbClr val="1A1A1A"/>
                </a:solidFill>
                <a:latin typeface="Calibri"/>
              </a:rPr>
              <a:t>κ = 25, fixed in advance</a:t>
            </a:r>
          </a:p>
          <a:p>
            <a:pPr>
              <a:spcAft>
                <a:spcPts val="1540"/>
              </a:spcAft>
            </a:pPr>
            <a:r>
              <a:rPr sz="1959" b="0">
                <a:solidFill>
                  <a:srgbClr val="2D5F8B"/>
                </a:solidFill>
                <a:latin typeface="Calibri"/>
              </a:rPr>
              <a:t>■  </a:t>
            </a:r>
            <a:r>
              <a:rPr sz="2800" b="0">
                <a:solidFill>
                  <a:srgbClr val="1A1A1A"/>
                </a:solidFill>
                <a:latin typeface="Calibri"/>
              </a:rPr>
              <a:t>n = 0: exactly the global model</a:t>
            </a:r>
          </a:p>
          <a:p>
            <a:pPr>
              <a:spcAft>
                <a:spcPts val="1540"/>
              </a:spcAft>
            </a:pPr>
            <a:r>
              <a:rPr sz="1959" b="0">
                <a:solidFill>
                  <a:srgbClr val="2D5F8B"/>
                </a:solidFill>
                <a:latin typeface="Calibri"/>
              </a:rPr>
              <a:t>■  </a:t>
            </a:r>
            <a:r>
              <a:rPr sz="2800" b="0">
                <a:solidFill>
                  <a:srgbClr val="1A1A1A"/>
                </a:solidFill>
                <a:latin typeface="Calibri"/>
              </a:rPr>
              <a:t>Never meaningfully worse than either parent</a:t>
            </a:r>
          </a:p>
          <a:p>
            <a:pPr>
              <a:spcAft>
                <a:spcPts val="1540"/>
              </a:spcAft>
            </a:pPr>
            <a:r>
              <a:rPr sz="1959" b="0">
                <a:solidFill>
                  <a:srgbClr val="2D5F8B"/>
                </a:solidFill>
                <a:latin typeface="Calibri"/>
              </a:rPr>
              <a:t>■  </a:t>
            </a:r>
            <a:r>
              <a:rPr sz="2800" b="0">
                <a:solidFill>
                  <a:srgbClr val="1A1A1A"/>
                </a:solidFill>
                <a:latin typeface="Calibri"/>
              </a:rPr>
              <a:t>Fails if signal lives in the features</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9/16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How you set the alert threshold matters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188720" y="1645920"/>
          <a:ext cx="9784080" cy="2514600"/>
        </p:xfrm>
        <a:graphic>
          <a:graphicData uri="http://schemas.openxmlformats.org/drawingml/2006/table">
            <a:tbl>
              <a:tblPr firstRow="1" bandRow="1">
                <a:tableStyleId>{5C22544A-7EE6-4342-B048-85BDC9FD1C3A}</a:tableStyleId>
              </a:tblPr>
              <a:tblGrid>
                <a:gridCol w="2446020"/>
                <a:gridCol w="2446020"/>
                <a:gridCol w="2446020"/>
                <a:gridCol w="2446020"/>
              </a:tblGrid>
              <a:tr h="502920">
                <a:tc>
                  <a:txBody>
                    <a:bodyPr/>
                    <a:lstStyle/>
                    <a:p>
                      <a:pPr algn="l"/>
                      <a:r>
                        <a:rPr sz="2400" b="1">
                          <a:solidFill>
                            <a:srgbClr val="FFFFFF"/>
                          </a:solidFill>
                          <a:latin typeface="Calibri"/>
                        </a:rPr>
                        <a:t>n</a:t>
                      </a:r>
                    </a:p>
                  </a:txBody>
                  <a:tcPr>
                    <a:solidFill>
                      <a:srgbClr val="2D5F8B"/>
                    </a:solidFill>
                  </a:tcPr>
                </a:tc>
                <a:tc>
                  <a:txBody>
                    <a:bodyPr/>
                    <a:lstStyle/>
                    <a:p>
                      <a:pPr algn="ctr"/>
                      <a:r>
                        <a:rPr sz="2400" b="1">
                          <a:solidFill>
                            <a:srgbClr val="FFFFFF"/>
                          </a:solidFill>
                          <a:latin typeface="Calibri"/>
                        </a:rPr>
                        <a:t>In-sample flag rate</a:t>
                      </a:r>
                    </a:p>
                  </a:txBody>
                  <a:tcPr>
                    <a:solidFill>
                      <a:srgbClr val="2D5F8B"/>
                    </a:solidFill>
                  </a:tcPr>
                </a:tc>
                <a:tc>
                  <a:txBody>
                    <a:bodyPr/>
                    <a:lstStyle/>
                    <a:p>
                      <a:pPr algn="ctr"/>
                      <a:r>
                        <a:rPr sz="2400" b="1">
                          <a:solidFill>
                            <a:srgbClr val="FFFFFF"/>
                          </a:solidFill>
                          <a:latin typeface="Calibri"/>
                        </a:rPr>
                        <a:t>LOO flag rate</a:t>
                      </a:r>
                    </a:p>
                  </a:txBody>
                  <a:tcPr>
                    <a:solidFill>
                      <a:srgbClr val="2D5F8B"/>
                    </a:solidFill>
                  </a:tcPr>
                </a:tc>
                <a:tc>
                  <a:txBody>
                    <a:bodyPr/>
                    <a:lstStyle/>
                    <a:p>
                      <a:pPr algn="ctr"/>
                      <a:r>
                        <a:rPr sz="2400" b="1">
                          <a:solidFill>
                            <a:srgbClr val="FFFFFF"/>
                          </a:solidFill>
                          <a:latin typeface="Calibri"/>
                        </a:rPr>
                        <a:t>LOO FPR</a:t>
                      </a:r>
                    </a:p>
                  </a:txBody>
                  <a:tcPr>
                    <a:solidFill>
                      <a:srgbClr val="2D5F8B"/>
                    </a:solidFill>
                  </a:tcPr>
                </a:tc>
              </a:tr>
              <a:tr h="502920">
                <a:tc>
                  <a:txBody>
                    <a:bodyPr/>
                    <a:lstStyle/>
                    <a:p>
                      <a:pPr algn="l"/>
                      <a:r>
                        <a:rPr sz="2400" b="0">
                          <a:solidFill>
                            <a:srgbClr val="1A1A1A"/>
                          </a:solidFill>
                          <a:latin typeface="Calibri"/>
                        </a:rPr>
                        <a:t>5</a:t>
                      </a:r>
                    </a:p>
                  </a:txBody>
                  <a:tcPr>
                    <a:solidFill>
                      <a:srgbClr val="E8F1F8"/>
                    </a:solidFill>
                  </a:tcPr>
                </a:tc>
                <a:tc>
                  <a:txBody>
                    <a:bodyPr/>
                    <a:lstStyle/>
                    <a:p>
                      <a:pPr algn="ctr"/>
                      <a:r>
                        <a:rPr sz="2400" b="0">
                          <a:solidFill>
                            <a:srgbClr val="1A1A1A"/>
                          </a:solidFill>
                          <a:latin typeface="Calibri"/>
                        </a:rPr>
                        <a:t>0.989</a:t>
                      </a:r>
                    </a:p>
                  </a:txBody>
                  <a:tcPr>
                    <a:solidFill>
                      <a:srgbClr val="E8F1F8"/>
                    </a:solidFill>
                  </a:tcPr>
                </a:tc>
                <a:tc>
                  <a:txBody>
                    <a:bodyPr/>
                    <a:lstStyle/>
                    <a:p>
                      <a:pPr algn="ctr"/>
                      <a:r>
                        <a:rPr sz="2400" b="0">
                          <a:solidFill>
                            <a:srgbClr val="1A1A1A"/>
                          </a:solidFill>
                          <a:latin typeface="Calibri"/>
                        </a:rPr>
                        <a:t>0.152</a:t>
                      </a:r>
                    </a:p>
                  </a:txBody>
                  <a:tcPr>
                    <a:solidFill>
                      <a:srgbClr val="E8F1F8"/>
                    </a:solidFill>
                  </a:tcPr>
                </a:tc>
                <a:tc>
                  <a:txBody>
                    <a:bodyPr/>
                    <a:lstStyle/>
                    <a:p>
                      <a:pPr algn="ctr"/>
                      <a:r>
                        <a:rPr sz="2400" b="0">
                          <a:solidFill>
                            <a:srgbClr val="1A1A1A"/>
                          </a:solidFill>
                          <a:latin typeface="Calibri"/>
                        </a:rPr>
                        <a:t>0.151</a:t>
                      </a:r>
                    </a:p>
                  </a:txBody>
                  <a:tcPr>
                    <a:solidFill>
                      <a:srgbClr val="E8F1F8"/>
                    </a:solidFill>
                  </a:tcPr>
                </a:tc>
              </a:tr>
              <a:tr h="502920">
                <a:tc>
                  <a:txBody>
                    <a:bodyPr/>
                    <a:lstStyle/>
                    <a:p>
                      <a:pPr algn="l"/>
                      <a:r>
                        <a:rPr sz="2400" b="0">
                          <a:solidFill>
                            <a:srgbClr val="1A1A1A"/>
                          </a:solidFill>
                          <a:latin typeface="Calibri"/>
                        </a:rPr>
                        <a:t>10</a:t>
                      </a:r>
                    </a:p>
                  </a:txBody>
                  <a:tcPr>
                    <a:solidFill>
                      <a:srgbClr val="FFFFFF"/>
                    </a:solidFill>
                  </a:tcPr>
                </a:tc>
                <a:tc>
                  <a:txBody>
                    <a:bodyPr/>
                    <a:lstStyle/>
                    <a:p>
                      <a:pPr algn="ctr"/>
                      <a:r>
                        <a:rPr sz="2400" b="0">
                          <a:solidFill>
                            <a:srgbClr val="1A1A1A"/>
                          </a:solidFill>
                          <a:latin typeface="Calibri"/>
                        </a:rPr>
                        <a:t>0.960</a:t>
                      </a:r>
                    </a:p>
                  </a:txBody>
                  <a:tcPr>
                    <a:solidFill>
                      <a:srgbClr val="FFFFFF"/>
                    </a:solidFill>
                  </a:tcPr>
                </a:tc>
                <a:tc>
                  <a:txBody>
                    <a:bodyPr/>
                    <a:lstStyle/>
                    <a:p>
                      <a:pPr algn="ctr"/>
                      <a:r>
                        <a:rPr sz="2400" b="0">
                          <a:solidFill>
                            <a:srgbClr val="1A1A1A"/>
                          </a:solidFill>
                          <a:latin typeface="Calibri"/>
                        </a:rPr>
                        <a:t>0.012</a:t>
                      </a:r>
                    </a:p>
                  </a:txBody>
                  <a:tcPr>
                    <a:solidFill>
                      <a:srgbClr val="FFFFFF"/>
                    </a:solidFill>
                  </a:tcPr>
                </a:tc>
                <a:tc>
                  <a:txBody>
                    <a:bodyPr/>
                    <a:lstStyle/>
                    <a:p>
                      <a:pPr algn="ctr"/>
                      <a:r>
                        <a:rPr sz="2400" b="0">
                          <a:solidFill>
                            <a:srgbClr val="1A1A1A"/>
                          </a:solidFill>
                          <a:latin typeface="Calibri"/>
                        </a:rPr>
                        <a:t>0.007</a:t>
                      </a:r>
                    </a:p>
                  </a:txBody>
                  <a:tcPr>
                    <a:solidFill>
                      <a:srgbClr val="FFFFFF"/>
                    </a:solidFill>
                  </a:tcPr>
                </a:tc>
              </a:tr>
              <a:tr h="502920">
                <a:tc>
                  <a:txBody>
                    <a:bodyPr/>
                    <a:lstStyle/>
                    <a:p>
                      <a:pPr algn="l"/>
                      <a:r>
                        <a:rPr sz="2400" b="0">
                          <a:solidFill>
                            <a:srgbClr val="1A1A1A"/>
                          </a:solidFill>
                          <a:latin typeface="Calibri"/>
                        </a:rPr>
                        <a:t>25</a:t>
                      </a:r>
                    </a:p>
                  </a:txBody>
                  <a:tcPr>
                    <a:solidFill>
                      <a:srgbClr val="E8F1F8"/>
                    </a:solidFill>
                  </a:tcPr>
                </a:tc>
                <a:tc>
                  <a:txBody>
                    <a:bodyPr/>
                    <a:lstStyle/>
                    <a:p>
                      <a:pPr algn="ctr"/>
                      <a:r>
                        <a:rPr sz="2400" b="0">
                          <a:solidFill>
                            <a:srgbClr val="1A1A1A"/>
                          </a:solidFill>
                          <a:latin typeface="Calibri"/>
                        </a:rPr>
                        <a:t>0.391</a:t>
                      </a:r>
                    </a:p>
                  </a:txBody>
                  <a:tcPr>
                    <a:solidFill>
                      <a:srgbClr val="E8F1F8"/>
                    </a:solidFill>
                  </a:tcPr>
                </a:tc>
                <a:tc>
                  <a:txBody>
                    <a:bodyPr/>
                    <a:lstStyle/>
                    <a:p>
                      <a:pPr algn="ctr"/>
                      <a:r>
                        <a:rPr sz="2400" b="0">
                          <a:solidFill>
                            <a:srgbClr val="1A1A1A"/>
                          </a:solidFill>
                          <a:latin typeface="Calibri"/>
                        </a:rPr>
                        <a:t>0.110</a:t>
                      </a:r>
                    </a:p>
                  </a:txBody>
                  <a:tcPr>
                    <a:solidFill>
                      <a:srgbClr val="E8F1F8"/>
                    </a:solidFill>
                  </a:tcPr>
                </a:tc>
                <a:tc>
                  <a:txBody>
                    <a:bodyPr/>
                    <a:lstStyle/>
                    <a:p>
                      <a:pPr algn="ctr"/>
                      <a:r>
                        <a:rPr sz="2400" b="0">
                          <a:solidFill>
                            <a:srgbClr val="1A1A1A"/>
                          </a:solidFill>
                          <a:latin typeface="Calibri"/>
                        </a:rPr>
                        <a:t>0.066</a:t>
                      </a:r>
                    </a:p>
                  </a:txBody>
                  <a:tcPr>
                    <a:solidFill>
                      <a:srgbClr val="E8F1F8"/>
                    </a:solidFill>
                  </a:tcPr>
                </a:tc>
              </a:tr>
              <a:tr h="502920">
                <a:tc>
                  <a:txBody>
                    <a:bodyPr/>
                    <a:lstStyle/>
                    <a:p>
                      <a:pPr algn="l"/>
                      <a:r>
                        <a:rPr sz="2400" b="0">
                          <a:solidFill>
                            <a:srgbClr val="1A1A1A"/>
                          </a:solidFill>
                          <a:latin typeface="Calibri"/>
                        </a:rPr>
                        <a:t>50</a:t>
                      </a:r>
                    </a:p>
                  </a:txBody>
                  <a:tcPr>
                    <a:solidFill>
                      <a:srgbClr val="FFFFFF"/>
                    </a:solidFill>
                  </a:tcPr>
                </a:tc>
                <a:tc>
                  <a:txBody>
                    <a:bodyPr/>
                    <a:lstStyle/>
                    <a:p>
                      <a:pPr algn="ctr"/>
                      <a:r>
                        <a:rPr sz="2400" b="0">
                          <a:solidFill>
                            <a:srgbClr val="1A1A1A"/>
                          </a:solidFill>
                          <a:latin typeface="Calibri"/>
                        </a:rPr>
                        <a:t>0.251</a:t>
                      </a:r>
                    </a:p>
                  </a:txBody>
                  <a:tcPr>
                    <a:solidFill>
                      <a:srgbClr val="FFFFFF"/>
                    </a:solidFill>
                  </a:tcPr>
                </a:tc>
                <a:tc>
                  <a:txBody>
                    <a:bodyPr/>
                    <a:lstStyle/>
                    <a:p>
                      <a:pPr algn="ctr"/>
                      <a:r>
                        <a:rPr sz="2400" b="0">
                          <a:solidFill>
                            <a:srgbClr val="1A1A1A"/>
                          </a:solidFill>
                          <a:latin typeface="Calibri"/>
                        </a:rPr>
                        <a:t>0.126</a:t>
                      </a:r>
                    </a:p>
                  </a:txBody>
                  <a:tcPr>
                    <a:solidFill>
                      <a:srgbClr val="FFFFFF"/>
                    </a:solidFill>
                  </a:tcPr>
                </a:tc>
                <a:tc>
                  <a:txBody>
                    <a:bodyPr/>
                    <a:lstStyle/>
                    <a:p>
                      <a:pPr algn="ctr"/>
                      <a:r>
                        <a:rPr sz="2400" b="0">
                          <a:solidFill>
                            <a:srgbClr val="1A1A1A"/>
                          </a:solidFill>
                          <a:latin typeface="Calibri"/>
                        </a:rPr>
                        <a:t>0.073</a:t>
                      </a:r>
                    </a:p>
                  </a:txBody>
                  <a:tcPr>
                    <a:solidFill>
                      <a:srgbClr val="FFFFFF"/>
                    </a:solidFill>
                  </a:tcPr>
                </a:tc>
              </a:tr>
            </a:tbl>
          </a:graphicData>
        </a:graphic>
      </p:graphicFrame>
      <p:sp>
        <p:nvSpPr>
          <p:cNvPr id="5" name="TextBox 4"/>
          <p:cNvSpPr txBox="1"/>
          <p:nvPr/>
        </p:nvSpPr>
        <p:spPr>
          <a:xfrm>
            <a:off x="731520" y="4480560"/>
            <a:ext cx="10698480" cy="1737360"/>
          </a:xfrm>
          <a:prstGeom prst="rect">
            <a:avLst/>
          </a:prstGeom>
          <a:noFill/>
        </p:spPr>
        <p:txBody>
          <a:bodyPr wrap="square" anchor="t">
            <a:spAutoFit/>
          </a:bodyPr>
          <a:lstStyle/>
          <a:p>
            <a:pPr>
              <a:spcAft>
                <a:spcPts val="1430"/>
              </a:spcAft>
            </a:pPr>
            <a:r>
              <a:rPr sz="1820" b="0">
                <a:solidFill>
                  <a:srgbClr val="2D5F8B"/>
                </a:solidFill>
                <a:latin typeface="Calibri"/>
              </a:rPr>
              <a:t>■  </a:t>
            </a:r>
            <a:r>
              <a:rPr sz="2600" b="0">
                <a:solidFill>
                  <a:srgbClr val="1A1A1A"/>
                </a:solidFill>
                <a:latin typeface="Calibri"/>
              </a:rPr>
              <a:t>n = 10: </a:t>
            </a:r>
            <a:r>
              <a:rPr sz="2600" b="1">
                <a:solidFill>
                  <a:srgbClr val="1A1A1A"/>
                </a:solidFill>
                <a:latin typeface="Calibri"/>
              </a:rPr>
              <a:t>96%</a:t>
            </a:r>
            <a:r>
              <a:rPr sz="2600" b="0">
                <a:solidFill>
                  <a:srgbClr val="1A1A1A"/>
                </a:solidFill>
                <a:latin typeface="Calibri"/>
              </a:rPr>
              <a:t> flagged in-sample</a:t>
            </a:r>
          </a:p>
          <a:p>
            <a:pPr>
              <a:spcAft>
                <a:spcPts val="1430"/>
              </a:spcAft>
            </a:pPr>
            <a:r>
              <a:rPr sz="1820" b="0">
                <a:solidFill>
                  <a:srgbClr val="2D5F8B"/>
                </a:solidFill>
                <a:latin typeface="Calibri"/>
              </a:rPr>
              <a:t>■  </a:t>
            </a:r>
            <a:r>
              <a:rPr sz="2600" b="0">
                <a:solidFill>
                  <a:srgbClr val="1A1A1A"/>
                </a:solidFill>
                <a:latin typeface="Calibri"/>
              </a:rPr>
              <a:t>Leave-one-out: </a:t>
            </a:r>
            <a:r>
              <a:rPr sz="2600" b="1">
                <a:solidFill>
                  <a:srgbClr val="1A1A1A"/>
                </a:solidFill>
                <a:latin typeface="Calibri"/>
              </a:rPr>
              <a:t>1.2%</a:t>
            </a:r>
            <a:r>
              <a:rPr sz="2600" b="0">
                <a:solidFill>
                  <a:srgbClr val="1A1A1A"/>
                </a:solidFill>
                <a:latin typeface="Calibri"/>
              </a:rPr>
              <a:t> flagged</a:t>
            </a:r>
          </a:p>
          <a:p>
            <a:pPr>
              <a:spcAft>
                <a:spcPts val="1430"/>
              </a:spcAft>
            </a:pPr>
            <a:r>
              <a:rPr sz="1820" b="0">
                <a:solidFill>
                  <a:srgbClr val="2D5F8B"/>
                </a:solidFill>
                <a:latin typeface="Calibri"/>
              </a:rPr>
              <a:t>■  </a:t>
            </a:r>
            <a:r>
              <a:rPr sz="2600" b="0">
                <a:solidFill>
                  <a:srgbClr val="1A1A1A"/>
                </a:solidFill>
                <a:latin typeface="Calibri"/>
              </a:rPr>
              <a:t>FPR 0.066 at n = 25 (nominal 0.05)</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10/16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A second dataset reverses a ranking</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tabformer_curves.png"/>
          <p:cNvPicPr>
            <a:picLocks noChangeAspect="1"/>
          </p:cNvPicPr>
          <p:nvPr/>
        </p:nvPicPr>
        <p:blipFill>
          <a:blip r:embed="rId2"/>
          <a:stretch>
            <a:fillRect/>
          </a:stretch>
        </p:blipFill>
        <p:spPr>
          <a:xfrm>
            <a:off x="548640" y="1600200"/>
            <a:ext cx="6580822" cy="4480560"/>
          </a:xfrm>
          <a:prstGeom prst="rect">
            <a:avLst/>
          </a:prstGeom>
        </p:spPr>
      </p:pic>
      <p:sp>
        <p:nvSpPr>
          <p:cNvPr id="5" name="TextBox 4"/>
          <p:cNvSpPr txBox="1"/>
          <p:nvPr/>
        </p:nvSpPr>
        <p:spPr>
          <a:xfrm>
            <a:off x="8321040" y="2011680"/>
            <a:ext cx="3474720" cy="3840480"/>
          </a:xfrm>
          <a:prstGeom prst="rect">
            <a:avLst/>
          </a:prstGeom>
          <a:noFill/>
        </p:spPr>
        <p:txBody>
          <a:bodyPr wrap="square" anchor="t">
            <a:spAutoFit/>
          </a:bodyPr>
          <a:lstStyle/>
          <a:p>
            <a:pPr>
              <a:spcAft>
                <a:spcPts val="1320"/>
              </a:spcAft>
            </a:pPr>
            <a:r>
              <a:rPr sz="1679" b="0">
                <a:solidFill>
                  <a:srgbClr val="2D5F8B"/>
                </a:solidFill>
                <a:latin typeface="Calibri"/>
              </a:rPr>
              <a:t>■  </a:t>
            </a:r>
            <a:r>
              <a:rPr sz="2400" b="0">
                <a:solidFill>
                  <a:srgbClr val="1A1A1A"/>
                </a:solidFill>
                <a:latin typeface="Calibri"/>
              </a:rPr>
              <a:t>Same shape, later threshold (250)</a:t>
            </a:r>
          </a:p>
          <a:p>
            <a:pPr>
              <a:spcAft>
                <a:spcPts val="1320"/>
              </a:spcAft>
            </a:pPr>
            <a:r>
              <a:rPr sz="1679" b="0">
                <a:solidFill>
                  <a:srgbClr val="2D5F8B"/>
                </a:solidFill>
                <a:latin typeface="Calibri"/>
              </a:rPr>
              <a:t>■  </a:t>
            </a:r>
            <a:r>
              <a:rPr sz="2400" b="0">
                <a:solidFill>
                  <a:srgbClr val="1A1A1A"/>
                </a:solidFill>
                <a:latin typeface="Calibri"/>
              </a:rPr>
              <a:t>Isolation forest best at small n</a:t>
            </a:r>
          </a:p>
          <a:p>
            <a:pPr>
              <a:spcAft>
                <a:spcPts val="1320"/>
              </a:spcAft>
            </a:pPr>
            <a:r>
              <a:rPr sz="1679" b="0">
                <a:solidFill>
                  <a:srgbClr val="2D5F8B"/>
                </a:solidFill>
                <a:latin typeface="Calibri"/>
              </a:rPr>
              <a:t>■  </a:t>
            </a:r>
            <a:r>
              <a:rPr sz="2400" b="0">
                <a:solidFill>
                  <a:srgbClr val="1A1A1A"/>
                </a:solidFill>
                <a:latin typeface="Calibri"/>
              </a:rPr>
              <a:t>Worst detector on Berka</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11/16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Variability sets how fast it learns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sim_archetypes.png"/>
          <p:cNvPicPr>
            <a:picLocks noChangeAspect="1"/>
          </p:cNvPicPr>
          <p:nvPr/>
        </p:nvPicPr>
        <p:blipFill>
          <a:blip r:embed="rId2"/>
          <a:stretch>
            <a:fillRect/>
          </a:stretch>
        </p:blipFill>
        <p:spPr>
          <a:xfrm>
            <a:off x="548640" y="1600200"/>
            <a:ext cx="6580822" cy="4480560"/>
          </a:xfrm>
          <a:prstGeom prst="rect">
            <a:avLst/>
          </a:prstGeom>
        </p:spPr>
      </p:pic>
      <p:sp>
        <p:nvSpPr>
          <p:cNvPr id="5" name="TextBox 4"/>
          <p:cNvSpPr txBox="1"/>
          <p:nvPr/>
        </p:nvSpPr>
        <p:spPr>
          <a:xfrm>
            <a:off x="8321040" y="2011680"/>
            <a:ext cx="3474720" cy="3840480"/>
          </a:xfrm>
          <a:prstGeom prst="rect">
            <a:avLst/>
          </a:prstGeom>
          <a:noFill/>
        </p:spPr>
        <p:txBody>
          <a:bodyPr wrap="square" anchor="t">
            <a:spAutoFit/>
          </a:bodyPr>
          <a:lstStyle/>
          <a:p>
            <a:pPr>
              <a:spcAft>
                <a:spcPts val="1320"/>
              </a:spcAft>
            </a:pPr>
            <a:r>
              <a:rPr sz="1679" b="0">
                <a:solidFill>
                  <a:srgbClr val="2D5F8B"/>
                </a:solidFill>
                <a:latin typeface="Calibri"/>
              </a:rPr>
              <a:t>■  </a:t>
            </a:r>
            <a:r>
              <a:rPr sz="2400" b="0">
                <a:solidFill>
                  <a:srgbClr val="1A1A1A"/>
                </a:solidFill>
                <a:latin typeface="Calibri"/>
              </a:rPr>
              <a:t>Regular: 50 transactions; variable: 500</a:t>
            </a:r>
          </a:p>
          <a:p>
            <a:pPr>
              <a:spcAft>
                <a:spcPts val="1320"/>
              </a:spcAft>
            </a:pPr>
            <a:r>
              <a:rPr sz="1679" b="0">
                <a:solidFill>
                  <a:srgbClr val="2D5F8B"/>
                </a:solidFill>
                <a:latin typeface="Calibri"/>
              </a:rPr>
              <a:t>■  </a:t>
            </a:r>
            <a:r>
              <a:rPr sz="2400" b="0">
                <a:solidFill>
                  <a:srgbClr val="1A1A1A"/>
                </a:solidFill>
                <a:latin typeface="Calibri"/>
              </a:rPr>
              <a:t>Simulation: Spearman ρ = 0.48 to 0.71</a:t>
            </a:r>
          </a:p>
          <a:p>
            <a:pPr>
              <a:spcAft>
                <a:spcPts val="1320"/>
              </a:spcAft>
            </a:pPr>
            <a:r>
              <a:rPr sz="1679" b="0">
                <a:solidFill>
                  <a:srgbClr val="2D5F8B"/>
                </a:solidFill>
                <a:latin typeface="Calibri"/>
              </a:rPr>
              <a:t>■  </a:t>
            </a:r>
            <a:r>
              <a:rPr sz="2400" b="0">
                <a:solidFill>
                  <a:srgbClr val="1A1A1A"/>
                </a:solidFill>
                <a:latin typeface="Calibri"/>
              </a:rPr>
              <a:t>Real accounts: no descriptor predicts it</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12/16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Recent history beats more history</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50 to 250 transactions: 0.647 → 0.642</a:t>
            </a:r>
          </a:p>
          <a:p>
            <a:pPr>
              <a:spcAft>
                <a:spcPts val="1650"/>
              </a:spcAft>
            </a:pPr>
            <a:r>
              <a:rPr sz="2100" b="0">
                <a:solidFill>
                  <a:srgbClr val="2D5F8B"/>
                </a:solidFill>
                <a:latin typeface="Calibri"/>
              </a:rPr>
              <a:t>■  </a:t>
            </a:r>
            <a:r>
              <a:rPr sz="3000" b="0">
                <a:solidFill>
                  <a:srgbClr val="1A1A1A"/>
                </a:solidFill>
                <a:latin typeface="Calibri"/>
              </a:rPr>
              <a:t>Same 50 from 4× span: −0.036</a:t>
            </a:r>
          </a:p>
          <a:p>
            <a:pPr>
              <a:spcAft>
                <a:spcPts val="1650"/>
              </a:spcAft>
            </a:pPr>
            <a:r>
              <a:rPr sz="2100" b="0">
                <a:solidFill>
                  <a:srgbClr val="2D5F8B"/>
                </a:solidFill>
                <a:latin typeface="Calibri"/>
              </a:rPr>
              <a:t>■  </a:t>
            </a:r>
            <a:r>
              <a:rPr sz="3000" b="0">
                <a:solidFill>
                  <a:srgbClr val="1A1A1A"/>
                </a:solidFill>
                <a:latin typeface="Calibri"/>
              </a:rPr>
              <a:t>Drift is real, but doesn't predict loss</a:t>
            </a:r>
          </a:p>
          <a:p>
            <a:pPr>
              <a:spcAft>
                <a:spcPts val="1650"/>
              </a:spcAft>
            </a:pPr>
            <a:r>
              <a:rPr sz="2100" b="0">
                <a:solidFill>
                  <a:srgbClr val="2D5F8B"/>
                </a:solidFill>
                <a:latin typeface="Calibri"/>
              </a:rPr>
              <a:t>■  </a:t>
            </a:r>
            <a:r>
              <a:rPr sz="3000" b="0">
                <a:solidFill>
                  <a:srgbClr val="1A1A1A"/>
                </a:solidFill>
                <a:latin typeface="Calibri"/>
              </a:rPr>
              <a:t>ρ = −0.08, Holm p = 0.32</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13/16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Limits and ethics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One bank, 1993 to 1998; second dataset synthetic</a:t>
            </a:r>
          </a:p>
          <a:p>
            <a:pPr>
              <a:spcAft>
                <a:spcPts val="1650"/>
              </a:spcAft>
            </a:pPr>
            <a:r>
              <a:rPr sz="2100" b="0">
                <a:solidFill>
                  <a:srgbClr val="2D5F8B"/>
                </a:solidFill>
                <a:latin typeface="Calibri"/>
              </a:rPr>
              <a:t>■  </a:t>
            </a:r>
            <a:r>
              <a:rPr sz="3000" b="0">
                <a:solidFill>
                  <a:srgbClr val="1A1A1A"/>
                </a:solidFill>
                <a:latin typeface="Calibri"/>
              </a:rPr>
              <a:t>10% injection far above fraud prevalence</a:t>
            </a:r>
          </a:p>
          <a:p>
            <a:pPr>
              <a:spcAft>
                <a:spcPts val="1650"/>
              </a:spcAft>
            </a:pPr>
            <a:r>
              <a:rPr sz="2100" b="0">
                <a:solidFill>
                  <a:srgbClr val="2D5F8B"/>
                </a:solidFill>
                <a:latin typeface="Calibri"/>
              </a:rPr>
              <a:t>■  </a:t>
            </a:r>
            <a:r>
              <a:rPr sz="3000" b="0">
                <a:solidFill>
                  <a:srgbClr val="1A1A1A"/>
                </a:solidFill>
                <a:latin typeface="Calibri"/>
              </a:rPr>
              <a:t>A flag is a deviation, not fraud</a:t>
            </a:r>
          </a:p>
          <a:p>
            <a:pPr>
              <a:spcAft>
                <a:spcPts val="1650"/>
              </a:spcAft>
            </a:pPr>
            <a:r>
              <a:rPr sz="2100" b="0">
                <a:solidFill>
                  <a:srgbClr val="2D5F8B"/>
                </a:solidFill>
                <a:latin typeface="Calibri"/>
              </a:rPr>
              <a:t>■  </a:t>
            </a:r>
            <a:r>
              <a:rPr sz="3000" b="0">
                <a:solidFill>
                  <a:srgbClr val="1A1A1A"/>
                </a:solidFill>
                <a:latin typeface="Calibri"/>
              </a:rPr>
              <a:t>Audit is district-level only</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14/16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Takeaways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3474720"/>
          </a:xfrm>
          <a:prstGeom prst="rect">
            <a:avLst/>
          </a:prstGeom>
          <a:noFill/>
        </p:spPr>
        <p:txBody>
          <a:bodyPr wrap="square" anchor="t">
            <a:spAutoFit/>
          </a:bodyPr>
          <a:lstStyle/>
          <a:p>
            <a:pPr>
              <a:spcAft>
                <a:spcPts val="1650"/>
              </a:spcAft>
            </a:pPr>
            <a:r>
              <a:rPr sz="2100" b="0">
                <a:solidFill>
                  <a:srgbClr val="2D5F8B"/>
                </a:solidFill>
                <a:latin typeface="Calibri"/>
              </a:rPr>
              <a:t>■  </a:t>
            </a:r>
            <a:r>
              <a:rPr sz="3000" b="0">
                <a:solidFill>
                  <a:srgbClr val="1A1A1A"/>
                </a:solidFill>
                <a:latin typeface="Calibri"/>
              </a:rPr>
              <a:t>Baseline ranks well from about 25 transactions</a:t>
            </a:r>
          </a:p>
          <a:p>
            <a:pPr>
              <a:spcAft>
                <a:spcPts val="1650"/>
              </a:spcAft>
            </a:pPr>
            <a:r>
              <a:rPr sz="2100" b="0">
                <a:solidFill>
                  <a:srgbClr val="2D5F8B"/>
                </a:solidFill>
                <a:latin typeface="Calibri"/>
              </a:rPr>
              <a:t>■  </a:t>
            </a:r>
            <a:r>
              <a:rPr sz="3000" b="0">
                <a:solidFill>
                  <a:srgbClr val="1A1A1A"/>
                </a:solidFill>
                <a:latin typeface="Calibri"/>
              </a:rPr>
              <a:t>Hybrid removes the cold-start penalty</a:t>
            </a:r>
          </a:p>
          <a:p>
            <a:pPr>
              <a:spcAft>
                <a:spcPts val="1650"/>
              </a:spcAft>
            </a:pPr>
            <a:r>
              <a:rPr sz="2100" b="0">
                <a:solidFill>
                  <a:srgbClr val="2D5F8B"/>
                </a:solidFill>
                <a:latin typeface="Calibri"/>
              </a:rPr>
              <a:t>■  </a:t>
            </a:r>
            <a:r>
              <a:rPr sz="3000" b="0">
                <a:solidFill>
                  <a:srgbClr val="1A1A1A"/>
                </a:solidFill>
                <a:latin typeface="Calibri"/>
              </a:rPr>
              <a:t>Calibration moves the operating point</a:t>
            </a:r>
          </a:p>
          <a:p>
            <a:pPr>
              <a:spcAft>
                <a:spcPts val="1650"/>
              </a:spcAft>
            </a:pPr>
            <a:r>
              <a:rPr sz="2100" b="0">
                <a:solidFill>
                  <a:srgbClr val="2D5F8B"/>
                </a:solidFill>
                <a:latin typeface="Calibri"/>
              </a:rPr>
              <a:t>■  </a:t>
            </a:r>
            <a:r>
              <a:rPr sz="3000" b="0">
                <a:solidFill>
                  <a:srgbClr val="1A1A1A"/>
                </a:solidFill>
                <a:latin typeface="Calibri"/>
              </a:rPr>
              <a:t>Keep recent history, not all history</a:t>
            </a:r>
          </a:p>
        </p:txBody>
      </p:sp>
      <p:sp>
        <p:nvSpPr>
          <p:cNvPr id="5" name="TextBox 4"/>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6" name="TextBox 5"/>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r>
              <a:rPr sz="3800" b="1">
                <a:solidFill>
                  <a:srgbClr val="2D5F8B"/>
                </a:solidFill>
                <a:latin typeface="Calibri"/>
              </a:rPr>
              <a:t>Questions?</a:t>
            </a:r>
          </a:p>
        </p:txBody>
      </p:sp>
      <p:sp>
        <p:nvSpPr>
          <p:cNvPr id="3" name="Rectangle 2"/>
          <p:cNvSpPr/>
          <p:nvPr/>
        </p:nvSpPr>
        <p:spPr>
          <a:xfrm>
            <a:off x="548640" y="1261872"/>
            <a:ext cx="11064240" cy="4572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qr_paper.png"/>
          <p:cNvPicPr>
            <a:picLocks noChangeAspect="1"/>
          </p:cNvPicPr>
          <p:nvPr/>
        </p:nvPicPr>
        <p:blipFill>
          <a:blip r:embed="rId2"/>
          <a:stretch>
            <a:fillRect/>
          </a:stretch>
        </p:blipFill>
        <p:spPr>
          <a:xfrm>
            <a:off x="1280160" y="1828800"/>
            <a:ext cx="3657600" cy="3657600"/>
          </a:xfrm>
          <a:prstGeom prst="rect">
            <a:avLst/>
          </a:prstGeom>
        </p:spPr>
      </p:pic>
      <p:sp>
        <p:nvSpPr>
          <p:cNvPr id="5" name="TextBox 4"/>
          <p:cNvSpPr txBox="1"/>
          <p:nvPr/>
        </p:nvSpPr>
        <p:spPr>
          <a:xfrm>
            <a:off x="5760720" y="2286000"/>
            <a:ext cx="5852160" cy="2926080"/>
          </a:xfrm>
          <a:prstGeom prst="rect">
            <a:avLst/>
          </a:prstGeom>
          <a:noFill/>
        </p:spPr>
        <p:txBody>
          <a:bodyPr wrap="square" anchor="t">
            <a:spAutoFit/>
          </a:bodyPr>
          <a:lstStyle/>
          <a:p>
            <a:r>
              <a:rPr sz="3400" b="1">
                <a:solidFill>
                  <a:srgbClr val="2D5F8B"/>
                </a:solidFill>
                <a:latin typeface="Calibri"/>
              </a:rPr>
              <a:t>Paper and code</a:t>
            </a:r>
          </a:p>
          <a:p>
            <a:pPr>
              <a:spcBef>
                <a:spcPts val="1400"/>
              </a:spcBef>
            </a:pPr>
            <a:r>
              <a:rPr sz="2800" b="0">
                <a:solidFill>
                  <a:srgbClr val="1A1A1A"/>
                </a:solidFill>
                <a:latin typeface="Calibri"/>
              </a:rPr>
              <a:t>briyan.xyz/research</a:t>
            </a:r>
          </a:p>
          <a:p>
            <a:pPr>
              <a:spcBef>
                <a:spcPts val="1400"/>
              </a:spcBef>
            </a:pPr>
            <a:r>
              <a:rPr sz="2800" b="0">
                <a:solidFill>
                  <a:srgbClr val="1A1A1A"/>
                </a:solidFill>
                <a:latin typeface="Calibri"/>
              </a:rPr>
              <a:t>briyandyju@gmail.com</a:t>
            </a:r>
          </a:p>
        </p:txBody>
      </p:sp>
      <p:sp>
        <p:nvSpPr>
          <p:cNvPr id="6" name="TextBox 5"/>
          <p:cNvSpPr txBox="1"/>
          <p:nvPr/>
        </p:nvSpPr>
        <p:spPr>
          <a:xfrm>
            <a:off x="548640" y="6355080"/>
            <a:ext cx="8229600" cy="365760"/>
          </a:xfrm>
          <a:prstGeom prst="rect">
            <a:avLst/>
          </a:prstGeom>
          <a:noFill/>
        </p:spPr>
        <p:txBody>
          <a:bodyPr wrap="square" anchor="t">
            <a:spAutoFit/>
          </a:bodyPr>
          <a:lstStyle/>
          <a:p>
            <a:r>
              <a:rPr sz="1200" b="0">
                <a:solidFill>
                  <a:srgbClr val="888888"/>
                </a:solidFill>
                <a:latin typeface="Calibri"/>
              </a:rPr>
              <a:t>Dyju · How Much Personal History Is Enough?</a:t>
            </a:r>
          </a:p>
        </p:txBody>
      </p:sp>
      <p:sp>
        <p:nvSpPr>
          <p:cNvPr id="7" name="TextBox 6"/>
          <p:cNvSpPr txBox="1"/>
          <p:nvPr/>
        </p:nvSpPr>
        <p:spPr>
          <a:xfrm>
            <a:off x="10241280" y="6355080"/>
            <a:ext cx="1371600" cy="365760"/>
          </a:xfrm>
          <a:prstGeom prst="rect">
            <a:avLst/>
          </a:prstGeom>
          <a:noFill/>
        </p:spPr>
        <p:txBody>
          <a:bodyPr wrap="square" anchor="t">
            <a:spAutoFit/>
          </a:bodyPr>
          <a:lstStyle/>
          <a:p>
            <a:pPr algn="r"/>
            <a:r>
              <a:rPr sz="1200" b="0">
                <a:solidFill>
                  <a:srgbClr val="888888"/>
                </a:solidFill>
                <a:latin typeface="Calibri"/>
              </a:rPr>
              <a:t>16/16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